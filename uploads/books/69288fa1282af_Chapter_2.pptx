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24"/>
  </p:notesMasterIdLst>
  <p:sldIdLst>
    <p:sldId id="257" r:id="rId2"/>
    <p:sldId id="258" r:id="rId3"/>
    <p:sldId id="259" r:id="rId4"/>
    <p:sldId id="276" r:id="rId5"/>
    <p:sldId id="278" r:id="rId6"/>
    <p:sldId id="260" r:id="rId7"/>
    <p:sldId id="277" r:id="rId8"/>
    <p:sldId id="261" r:id="rId9"/>
    <p:sldId id="274" r:id="rId10"/>
    <p:sldId id="262" r:id="rId11"/>
    <p:sldId id="263" r:id="rId12"/>
    <p:sldId id="275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2A364B-44D5-4BFA-A02D-EC75BC980EAE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39A298-C43B-419C-B37D-278955623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0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0E66-677A-4E41-AF51-3D01B8578738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E885-CCA2-4462-8C6C-887CF0919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83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0E66-677A-4E41-AF51-3D01B8578738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E885-CCA2-4462-8C6C-887CF0919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2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0E66-677A-4E41-AF51-3D01B8578738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E885-CCA2-4462-8C6C-887CF0919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96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0E66-677A-4E41-AF51-3D01B8578738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E885-CCA2-4462-8C6C-887CF0919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46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0E66-677A-4E41-AF51-3D01B8578738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E885-CCA2-4462-8C6C-887CF0919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66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0E66-677A-4E41-AF51-3D01B8578738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E885-CCA2-4462-8C6C-887CF0919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1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0E66-677A-4E41-AF51-3D01B8578738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E885-CCA2-4462-8C6C-887CF0919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0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0E66-677A-4E41-AF51-3D01B8578738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E885-CCA2-4462-8C6C-887CF0919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92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0E66-677A-4E41-AF51-3D01B8578738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E885-CCA2-4462-8C6C-887CF0919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371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0E66-677A-4E41-AF51-3D01B8578738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E885-CCA2-4462-8C6C-887CF0919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8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90E66-677A-4E41-AF51-3D01B8578738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BE885-CCA2-4462-8C6C-887CF0919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75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90E66-677A-4E41-AF51-3D01B8578738}" type="datetimeFigureOut">
              <a:rPr lang="en-US" smtClean="0"/>
              <a:t>09-Dec-24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E885-CCA2-4462-8C6C-887CF0919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09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629"/>
            <a:ext cx="10515600" cy="116259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   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CHAPTER TWO</a:t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INCLUSION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366" y="1423850"/>
            <a:ext cx="11346288" cy="5298921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Inclusion is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process of addressing and responding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diversity of needs of all persons through increasing participation in learning, employment,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community.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exclusion at all social contexts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changes and modifications in content, approaches, structures and strategies, with a common vision which covers all people, and educate all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children,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 and provide social services.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seeks to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communities, systems and structures in all cultures and contexts to combat discrimination, celebrate diversity, promote participation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overcome barriers to learning and participation for all people.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Inclusive services at any level are quality provisions without discrimination or partiality and meeting the diverse needs of people.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5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569" y="95794"/>
            <a:ext cx="11725757" cy="88112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/>
              <a:t/>
            </a:r>
            <a:br>
              <a:rPr lang="en-US" b="1" u="sng" dirty="0"/>
            </a:br>
            <a:r>
              <a:rPr lang="en-US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McLeskey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Waldron (2000) Definition of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nclusion 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569" y="976924"/>
            <a:ext cx="11551139" cy="571996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with disabilities and vulnerability attend their neighborhood schools.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student is in an age-appropriate general education classroom.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student is accepted and regarded as a full and valued member of the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class, school &amp;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students receive an education that addresses their individual needs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student is excluded based on type or degree of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 disability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members of the school (e.g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administration, staff, students, and parents) promote cooperative/collaborative teaching arrangements.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there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school-based planning, problem-solving, and ownership of all students and programs.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PWDS are employed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their capacities without discriminations.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7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670"/>
            <a:ext cx="10515600" cy="957942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/>
            </a:r>
            <a:br>
              <a:rPr lang="en-US" b="1" u="sng" dirty="0"/>
            </a:br>
            <a:r>
              <a:rPr lang="en-US" b="1" dirty="0"/>
              <a:t>                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Inclusion does not mean: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3" y="888274"/>
            <a:ext cx="11821886" cy="586522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Placing students with disabilities into general education classrooms without careful planning and adequate support.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Reducing services or funding for special education services.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Placing all students who have disabilities or who are at risk in one or a few designated classrooms.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Teachers spending a disproportionate amount of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for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teaching or adapting the curriculum for students with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disabilities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490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3" y="274320"/>
            <a:ext cx="11821886" cy="647917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4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Isolating students with disabilities socially, physically, or academically within the general education school or classroom.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4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Endangering </a:t>
            </a:r>
            <a:r>
              <a:rPr lang="en-US" sz="4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achievement of general education students through slower instruction or a less challenging curriculum.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4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Relegating special education teachers to the role of assistants in the general education classroom.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4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Requiring general and special education teachers to team together without careful planning and well-defined responsibilities.</a:t>
            </a:r>
          </a:p>
          <a:p>
            <a:pPr marL="0" indent="0">
              <a:buNone/>
            </a:pP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870529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3" y="274320"/>
            <a:ext cx="11821886" cy="647917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4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Historical Developments of Inclusive Practice</a:t>
            </a:r>
          </a:p>
          <a:p>
            <a:pPr marL="742950" indent="-742950" algn="just">
              <a:lnSpc>
                <a:spcPct val="160000"/>
              </a:lnSpc>
              <a:buFont typeface="+mj-lt"/>
              <a:buAutoNum type="arabicPeriod"/>
            </a:pPr>
            <a:r>
              <a:rPr lang="en-US" sz="4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Segregated Service in isolated environment/ institutions</a:t>
            </a:r>
          </a:p>
          <a:p>
            <a:pPr marL="742950" indent="-742950" algn="just">
              <a:lnSpc>
                <a:spcPct val="160000"/>
              </a:lnSpc>
              <a:buFont typeface="+mj-lt"/>
              <a:buAutoNum type="arabicPeriod"/>
            </a:pPr>
            <a:r>
              <a:rPr lang="en-US" sz="4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services(physical/social integration)</a:t>
            </a:r>
          </a:p>
          <a:p>
            <a:pPr marL="742950" indent="-742950" algn="just">
              <a:lnSpc>
                <a:spcPct val="160000"/>
              </a:lnSpc>
              <a:buFont typeface="+mj-lt"/>
              <a:buAutoNum type="arabicPeriod"/>
            </a:pPr>
            <a:r>
              <a:rPr lang="en-US" sz="4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Mainstreaming CBR/inclusive environments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US" sz="4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714435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670"/>
            <a:ext cx="10515600" cy="766354"/>
          </a:xfrm>
        </p:spPr>
        <p:txBody>
          <a:bodyPr/>
          <a:lstStyle/>
          <a:p>
            <a:pPr algn="ctr"/>
            <a:r>
              <a:rPr lang="en-US" dirty="0"/>
              <a:t>         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</a:t>
            </a:r>
            <a:r>
              <a:rPr lang="en-US" dirty="0" smtClean="0"/>
              <a:t>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Inclusion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21217"/>
            <a:ext cx="11965577" cy="613678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fundamental principle of inclusion is that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persons should learn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and live together regardless of any difficulties or differences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evidences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all persons have unique characteristics, interests, abilities and particular learning needs, so that all persons would have equal access of education, employment and services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UNESCO,2005 inclusion has the following key principles.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Inclusion is a process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It has to be seen as a never-ending search to find better ways of responding to diversity.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about learning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live with difference and learning how to learn from difference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96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425" y="235131"/>
            <a:ext cx="11694017" cy="648764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0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Inclusion is concerned with the identification and removal of barriers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hinders the development of persons with disabilities.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Inclusion is about the presence, participation and achievement of all persons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Inclusion invokes a particular emphasis on those who may be at risk of marginalization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exclusion or underachievement.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217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3211"/>
            <a:ext cx="10515600" cy="792480"/>
          </a:xfrm>
        </p:spPr>
        <p:txBody>
          <a:bodyPr/>
          <a:lstStyle/>
          <a:p>
            <a:r>
              <a:rPr lang="en-US" b="1" dirty="0"/>
              <a:t>                  </a:t>
            </a:r>
            <a:r>
              <a:rPr lang="en-US" b="1" dirty="0" smtClean="0"/>
              <a:t> 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Rationale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Inclusion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376" y="764024"/>
            <a:ext cx="11770218" cy="599738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32500" lnSpcReduction="20000"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5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111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Educational </a:t>
            </a:r>
            <a:r>
              <a:rPr lang="en-US" sz="111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Foundations (Rationalities</a:t>
            </a:r>
            <a:r>
              <a:rPr lang="en-US" sz="5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60000"/>
              </a:lnSpc>
            </a:pPr>
            <a:r>
              <a:rPr lang="en-US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Children do better academically, psychologically and socially in inclusive settings.</a:t>
            </a:r>
          </a:p>
          <a:p>
            <a:pPr algn="just">
              <a:lnSpc>
                <a:spcPct val="160000"/>
              </a:lnSpc>
            </a:pPr>
            <a:r>
              <a:rPr lang="en-US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9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fficient </a:t>
            </a:r>
            <a:r>
              <a:rPr lang="en-US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education resources.</a:t>
            </a:r>
          </a:p>
          <a:p>
            <a:pPr algn="just">
              <a:lnSpc>
                <a:spcPct val="160000"/>
              </a:lnSpc>
            </a:pPr>
            <a:r>
              <a:rPr lang="en-US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 dropouts and repetitions.</a:t>
            </a:r>
          </a:p>
          <a:p>
            <a:pPr algn="just">
              <a:lnSpc>
                <a:spcPct val="160000"/>
              </a:lnSpc>
            </a:pPr>
            <a:r>
              <a:rPr lang="en-US" sz="9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teachers </a:t>
            </a:r>
            <a:r>
              <a:rPr lang="en-US" sz="9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competency (knowledge, skills, collaboration, satisfaction)                              </a:t>
            </a:r>
          </a:p>
          <a:p>
            <a:pPr marL="0" indent="0" algn="ctr">
              <a:lnSpc>
                <a:spcPct val="160000"/>
              </a:lnSpc>
              <a:buNone/>
            </a:pPr>
            <a:r>
              <a:rPr lang="en-US" sz="39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45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3974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60000"/>
              </a:lnSpc>
              <a:spcBef>
                <a:spcPts val="1000"/>
              </a:spcBef>
            </a:pPr>
            <a:r>
              <a:rPr lang="en-US" sz="31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en-US" sz="31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Social 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Foundation (Rationalities)</a:t>
            </a:r>
            <a: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en-US" sz="21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366" y="1171976"/>
            <a:ext cx="11294772" cy="5460643"/>
          </a:xfrm>
        </p:spPr>
        <p:txBody>
          <a:bodyPr/>
          <a:lstStyle/>
          <a:p>
            <a:pPr lvl="0" algn="just">
              <a:lnSpc>
                <a:spcPct val="160000"/>
              </a:lnSpc>
            </a:pPr>
            <a:r>
              <a:rPr lang="en-US" sz="32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Segregation </a:t>
            </a:r>
            <a:r>
              <a:rPr lang="en-US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teaches individuals to be fearful, ignorant and breeds prejudice.</a:t>
            </a:r>
          </a:p>
          <a:p>
            <a:pPr lvl="0" algn="just">
              <a:lnSpc>
                <a:spcPct val="160000"/>
              </a:lnSpc>
            </a:pPr>
            <a:r>
              <a:rPr lang="en-US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individuals needs to develop relationships and prepare them for life in the wider community.</a:t>
            </a:r>
          </a:p>
          <a:p>
            <a:pPr marL="0" lvl="0" indent="0" algn="just">
              <a:lnSpc>
                <a:spcPct val="160000"/>
              </a:lnSpc>
              <a:buNone/>
            </a:pPr>
            <a:r>
              <a:rPr lang="en-US" sz="3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</a:t>
            </a:r>
            <a:r>
              <a:rPr lang="en-US" sz="32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only </a:t>
            </a:r>
            <a:r>
              <a:rPr lang="en-US" sz="32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inclusion </a:t>
            </a:r>
            <a:r>
              <a:rPr lang="en-US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the potential to reduce fear and to build friendship, respect and understanding.</a:t>
            </a:r>
          </a:p>
          <a:p>
            <a:pPr marL="0" lvl="0" indent="0">
              <a:lnSpc>
                <a:spcPct val="160000"/>
              </a:lnSpc>
              <a:buNone/>
            </a:pPr>
            <a:endParaRPr lang="en-US" sz="13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553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7231"/>
            <a:ext cx="10515600" cy="726831"/>
          </a:xfrm>
        </p:spPr>
        <p:txBody>
          <a:bodyPr>
            <a:normAutofit fontScale="90000"/>
          </a:bodyPr>
          <a:lstStyle/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n-US" dirty="0"/>
              <a:t>                            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Legal Foundations</a:t>
            </a:r>
            <a:endParaRPr lang="en-US" sz="3600" dirty="0">
              <a:solidFill>
                <a:srgbClr val="C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365" y="1016000"/>
            <a:ext cx="11487955" cy="560374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have the right to learn and live together.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Human being 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shouldn’t be devalued or discriminated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their disability.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legitimate reasons to separate children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their education.</a:t>
            </a:r>
          </a:p>
          <a:p>
            <a:pPr>
              <a:lnSpc>
                <a:spcPct val="150000"/>
              </a:lnSpc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1542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8494"/>
            <a:ext cx="10515600" cy="611360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60000"/>
              </a:lnSpc>
              <a:spcBef>
                <a:spcPts val="1000"/>
              </a:spcBef>
            </a:pPr>
            <a:r>
              <a:rPr lang="en-US" dirty="0"/>
              <a:t>                                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4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Economic Foundations</a:t>
            </a: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87" y="850006"/>
            <a:ext cx="11500833" cy="584777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Inclusive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 has economic benefit, both for individual and for society.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Inclusive education is </a:t>
            </a:r>
            <a:r>
              <a:rPr lang="en-US" sz="3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cost-effective than the creation of special </a:t>
            </a:r>
            <a:r>
              <a:rPr lang="en-US" sz="30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schools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 the country.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Children with disabilities </a:t>
            </a:r>
            <a:r>
              <a:rPr lang="en-US" sz="30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3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community infrastructure.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30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better </a:t>
            </a:r>
            <a:r>
              <a:rPr lang="en-US" sz="3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employment and job creation opportunities </a:t>
            </a:r>
            <a:r>
              <a:rPr 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people with disabilities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6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05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7308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60000"/>
              </a:lnSpc>
              <a:spcBef>
                <a:spcPts val="1000"/>
              </a:spcBef>
            </a:pP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en-US" sz="2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Foundations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 Building Inclusive Society</a:t>
            </a:r>
            <a:r>
              <a:rPr lang="en-US" sz="31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/>
            </a:r>
            <a:br>
              <a:rPr lang="en-US" sz="31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US" sz="53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124" y="1711234"/>
            <a:ext cx="11475076" cy="4947142"/>
          </a:xfrm>
        </p:spPr>
        <p:txBody>
          <a:bodyPr>
            <a:normAutofit/>
          </a:bodyPr>
          <a:lstStyle/>
          <a:p>
            <a:pPr marL="857250" lvl="0" indent="-857250" algn="just">
              <a:lnSpc>
                <a:spcPct val="160000"/>
              </a:lnSpc>
              <a:buFont typeface="+mj-lt"/>
              <a:buAutoNum type="romanUcPeriod"/>
            </a:pPr>
            <a:r>
              <a:rPr lang="en-US" sz="4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Formation </a:t>
            </a:r>
            <a:r>
              <a:rPr lang="en-US" sz="4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mutual understanding and appreciation of diversity.</a:t>
            </a:r>
          </a:p>
          <a:p>
            <a:pPr marL="857250" lvl="0" indent="-857250" algn="just">
              <a:lnSpc>
                <a:spcPct val="160000"/>
              </a:lnSpc>
              <a:buFont typeface="+mj-lt"/>
              <a:buAutoNum type="romanUcPeriod"/>
            </a:pPr>
            <a:r>
              <a:rPr lang="en-US" sz="4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Building up empathy, tolerance and cooperation.</a:t>
            </a:r>
          </a:p>
          <a:p>
            <a:pPr marL="857250" lvl="0" indent="-857250" algn="just">
              <a:lnSpc>
                <a:spcPct val="160000"/>
              </a:lnSpc>
              <a:buFont typeface="+mj-lt"/>
              <a:buAutoNum type="romanUcPeriod"/>
            </a:pPr>
            <a:r>
              <a:rPr lang="en-US" sz="4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Promotion of sustainable development.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059393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698" y="124177"/>
            <a:ext cx="11947301" cy="622797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</a:t>
            </a:r>
            <a:r>
              <a:rPr lang="en-US" dirty="0" smtClean="0"/>
              <a:t>   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Inclusion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851" y="888642"/>
            <a:ext cx="11475076" cy="56924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b="1" dirty="0">
                <a:solidFill>
                  <a:schemeClr val="tx1"/>
                </a:solidFill>
              </a:rPr>
              <a:t>                       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Students with Special Needs Education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gaining of socially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acceptable behaviors, social initiations, interactions, relationships and networks.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peer role models for academic, social and behavioral skills.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skill acquisitions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academic achievement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staff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meet these students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parental participation to meet these students 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528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608" y="85969"/>
            <a:ext cx="11831392" cy="69964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 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Benefits for persons without Special Needs Education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88" y="746976"/>
            <a:ext cx="11938715" cy="589852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knowledge of a good deal about tolerance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individual difference, and human exceptionality. </a:t>
            </a:r>
            <a:endParaRPr lang="en-US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appreciation, acceptance and respect of individual differences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human beings that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leads to increased understanding and acceptance of diversity. </a:t>
            </a:r>
            <a:endParaRPr lang="en-US" b="1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chance to learn about many of the human service profession. E.g.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SNE, speech therapy, physical therapy, recreation therapy, and vocational rehabilitation &amp; the exposure to these areas may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 to career choices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27895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8789"/>
            <a:ext cx="12192000" cy="862884"/>
          </a:xfrm>
        </p:spPr>
        <p:txBody>
          <a:bodyPr>
            <a:noAutofit/>
          </a:bodyPr>
          <a:lstStyle/>
          <a:p>
            <a:pPr lvl="0" algn="ctr">
              <a:lnSpc>
                <a:spcPct val="150000"/>
              </a:lnSpc>
              <a:spcBef>
                <a:spcPts val="1000"/>
              </a:spcBef>
            </a:pP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Benefits for Teachers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138" y="965915"/>
            <a:ext cx="11621477" cy="578657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greater opportunities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new knowledge, new ways of teaching methods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to explore new ideas by communicating with others from within and outside their school.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can experience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greater job satisfaction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higher sense of accomplishment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all children are succeeding in school to the best of their abilities.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can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 from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teamwork and collaborative problem-solving skills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creatively address challenges regarding student learning.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598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940" y="154545"/>
            <a:ext cx="11134859" cy="721217"/>
          </a:xfrm>
        </p:spPr>
        <p:txBody>
          <a:bodyPr>
            <a:normAutofit fontScale="90000"/>
          </a:bodyPr>
          <a:lstStyle/>
          <a:p>
            <a:pPr lvl="0">
              <a:lnSpc>
                <a:spcPct val="150000"/>
              </a:lnSpc>
              <a:spcBef>
                <a:spcPts val="1000"/>
              </a:spcBef>
            </a:pPr>
            <a:r>
              <a:rPr lang="en-US" dirty="0"/>
              <a:t>                                  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Benefits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for Parents/Family</a:t>
            </a:r>
            <a:endParaRPr lang="en-US" sz="2800" dirty="0">
              <a:solidFill>
                <a:srgbClr val="00206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940" y="953037"/>
            <a:ext cx="11681323" cy="578739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Feel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valued and consider themselves as equal </a:t>
            </a:r>
            <a:r>
              <a:rPr lang="en-US" sz="32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parents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providing quality learning opportunities for children.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 how to deal better with their children at home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using techniques that the teachers use in school. 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 positive attitude about themselves and their children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seeing their children accepted by others, successful in the inclusive setting, and belonging to the community where they live.</a:t>
            </a:r>
          </a:p>
          <a:p>
            <a:pPr algn="just">
              <a:lnSpc>
                <a:spcPct val="150000"/>
              </a:lnSpc>
            </a:pP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90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439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Society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723" y="543910"/>
            <a:ext cx="11652740" cy="597412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as a means for </a:t>
            </a:r>
            <a:r>
              <a:rPr lang="en-US" sz="32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transformations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government and other agencies at all levels of society.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Communities become more accepting of difference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everyone benefits from a friendlier, open environment that values and appreciates differences in human beings.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make </a:t>
            </a:r>
            <a:r>
              <a:rPr lang="en-US" sz="32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meaningful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participation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economic, social, political and cultural life of communities. </a:t>
            </a:r>
          </a:p>
        </p:txBody>
      </p:sp>
    </p:spTree>
    <p:extLst>
      <p:ext uri="{BB962C8B-B14F-4D97-AF65-F5344CB8AC3E}">
        <p14:creationId xmlns:p14="http://schemas.microsoft.com/office/powerpoint/2010/main" val="766462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6711"/>
            <a:ext cx="12131566" cy="6857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Ultimate Goal of Inclusion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092" y="898634"/>
            <a:ext cx="11504246" cy="570822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/>
          </a:bodyPr>
          <a:lstStyle/>
          <a:p>
            <a:pPr marL="742950" lvl="0" indent="-742950" algn="just">
              <a:lnSpc>
                <a:spcPct val="150000"/>
              </a:lnSpc>
              <a:buFont typeface="+mj-lt"/>
              <a:buAutoNum type="arabicParenR"/>
            </a:pP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schools where everyone belongs and students educated together have a greater understanding of difference and diversity.</a:t>
            </a:r>
          </a:p>
          <a:p>
            <a:pPr marL="742950" lvl="0" indent="-742950" algn="just">
              <a:lnSpc>
                <a:spcPct val="150000"/>
              </a:lnSpc>
              <a:buFont typeface="+mj-lt"/>
              <a:buAutoNum type="arabicParenR"/>
            </a:pP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long-term outcomes for all </a:t>
            </a: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students. </a:t>
            </a:r>
            <a:r>
              <a:rPr lang="en-US" sz="36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Psychologically, socially, educationally and economically, etc.</a:t>
            </a:r>
            <a:endParaRPr lang="en-US" sz="36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0" indent="-742950" algn="just">
              <a:lnSpc>
                <a:spcPct val="150000"/>
              </a:lnSpc>
              <a:buFont typeface="+mj-lt"/>
              <a:buAutoNum type="arabicParenR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inclusive communities in the future for all </a:t>
            </a: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our </a:t>
            </a: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children.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413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8940"/>
            <a:ext cx="12192000" cy="72121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Inclusive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577" y="1197735"/>
            <a:ext cx="11681137" cy="530609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inclusive environment is one in which </a:t>
            </a:r>
            <a:r>
              <a:rPr lang="en-US" sz="3600" b="1" i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 feel respected by and connected to one another.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inclusive environment is an environment </a:t>
            </a:r>
            <a:r>
              <a:rPr lang="en-US" sz="36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welcomes all people</a:t>
            </a:r>
            <a:r>
              <a:rPr lang="en-US" sz="36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regardless of their disability and other vulnerabilities</a:t>
            </a:r>
            <a:r>
              <a:rPr 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2709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3063"/>
            <a:ext cx="12131566" cy="73309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Inclusive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645" y="627017"/>
            <a:ext cx="11804245" cy="612648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250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0800" dirty="0"/>
              <a:t> </a:t>
            </a: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10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the respect and dignity of individuals with disabilities </a:t>
            </a: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valued for their contributions as individuals.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10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inclusiveness</a:t>
            </a: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are </a:t>
            </a: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to the individual needs and diversities.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10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recognizes the diverse needs of their individuals </a:t>
            </a:r>
            <a:r>
              <a:rPr lang="en-US" sz="10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via </a:t>
            </a: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accommodations, organizational arrangements, resource use and partnerships with their community.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10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pro-social activities and restructuring environment</a:t>
            </a: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culture, policy, and practice.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10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develops social relationships </a:t>
            </a: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an equal member of the class and diversity of individuals </a:t>
            </a:r>
            <a:r>
              <a:rPr lang="en-US" sz="10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  <a:r>
              <a:rPr lang="en-US" sz="10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social and personal learning needs.</a:t>
            </a:r>
          </a:p>
          <a:p>
            <a:pPr>
              <a:lnSpc>
                <a:spcPct val="150000"/>
              </a:lnSpc>
            </a:pPr>
            <a:endParaRPr lang="en-US" sz="10400" dirty="0"/>
          </a:p>
        </p:txBody>
      </p:sp>
    </p:spTree>
    <p:extLst>
      <p:ext uri="{BB962C8B-B14F-4D97-AF65-F5344CB8AC3E}">
        <p14:creationId xmlns:p14="http://schemas.microsoft.com/office/powerpoint/2010/main" val="1414059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182" y="55179"/>
            <a:ext cx="11861443" cy="66603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Barriers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Inclusion-</a:t>
            </a:r>
            <a:r>
              <a:rPr lang="en-US" b="1" i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Shortcomings</a:t>
            </a:r>
            <a:endParaRPr lang="en-US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92" y="759853"/>
            <a:ext cx="11785600" cy="592230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 and policy makers’ negative attitude towards </a:t>
            </a:r>
            <a:r>
              <a:rPr lang="en-US" sz="2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SWD and </a:t>
            </a: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vulnerabilities.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taking measures to ensure conformity of implementation of inclusion practice with policies.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stakeholders taking responsibility in their cooperation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well as collaboration for inclusion.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Conservative traditions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the community members about inclusion.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2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knowledge and skills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among teachers regarding inclusive education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07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941" y="235132"/>
            <a:ext cx="11565228" cy="6358852"/>
          </a:xfrm>
        </p:spPr>
        <p:txBody>
          <a:bodyPr>
            <a:normAutofit fontScale="92500"/>
          </a:bodyPr>
          <a:lstStyle/>
          <a:p>
            <a:pPr lvl="0"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2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Rigid curricula, teaching method and examination systems </a:t>
            </a:r>
            <a:r>
              <a:rPr lang="en-US" sz="29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29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</a:t>
            </a:r>
            <a:r>
              <a:rPr lang="en-US" sz="29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students with </a:t>
            </a:r>
            <a:r>
              <a:rPr lang="en-US" sz="29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diverse </a:t>
            </a:r>
            <a:r>
              <a:rPr lang="en-US" sz="29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 and ability differences.</a:t>
            </a:r>
          </a:p>
          <a:p>
            <a:pPr lvl="0"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29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US" sz="29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democratic institutions that </a:t>
            </a:r>
            <a:r>
              <a:rPr lang="en-US" sz="29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could </a:t>
            </a:r>
            <a:r>
              <a:rPr lang="en-US" sz="29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inclusion.</a:t>
            </a:r>
          </a:p>
          <a:p>
            <a:pPr lvl="0"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2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Inadequate resources and inaccessibility </a:t>
            </a:r>
            <a:r>
              <a:rPr lang="en-US" sz="29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social and physical environments.</a:t>
            </a:r>
          </a:p>
          <a:p>
            <a:pPr lvl="0"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29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class sizes that make teachers and stakeholders meet students </a:t>
            </a:r>
            <a:r>
              <a:rPr lang="en-US" sz="29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diverse </a:t>
            </a:r>
            <a:r>
              <a:rPr lang="en-US" sz="29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needs.</a:t>
            </a:r>
          </a:p>
          <a:p>
            <a:pPr lvl="0" algn="just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sz="29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Inappropriate application of </a:t>
            </a:r>
            <a:r>
              <a:rPr lang="en-US" sz="29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inclusive models </a:t>
            </a:r>
            <a:r>
              <a:rPr lang="en-US" sz="29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may be imported from other countries.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406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521</TotalTime>
  <Words>1443</Words>
  <Application>Microsoft Office PowerPoint</Application>
  <PresentationFormat>Widescreen</PresentationFormat>
  <Paragraphs>107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Wingdings</vt:lpstr>
      <vt:lpstr>Office Theme</vt:lpstr>
      <vt:lpstr>                  CHAPTER TWO CONCEPT OF INCLUSION                  </vt:lpstr>
      <vt:lpstr> McLeskey &amp; Waldron (2000) Definition of  Inclusion  </vt:lpstr>
      <vt:lpstr>                  Inclusion does not mean: </vt:lpstr>
      <vt:lpstr>PowerPoint Presentation</vt:lpstr>
      <vt:lpstr>PowerPoint Presentation</vt:lpstr>
      <vt:lpstr>                Fundamental Principles of Inclusion</vt:lpstr>
      <vt:lpstr>PowerPoint Presentation</vt:lpstr>
      <vt:lpstr>                    Rationale for Inclusion</vt:lpstr>
      <vt:lpstr> Social Foundation (Rationalities) </vt:lpstr>
      <vt:lpstr>                             Legal Foundations</vt:lpstr>
      <vt:lpstr>                                  Economic Foundations </vt:lpstr>
      <vt:lpstr>  Foundations for Building Inclusive Society </vt:lpstr>
      <vt:lpstr>                            Benefits of Inclusion</vt:lpstr>
      <vt:lpstr> Benefits for persons without Special Needs Education</vt:lpstr>
      <vt:lpstr>Benefits for Teachers</vt:lpstr>
      <vt:lpstr>                                  Benefits for Parents/Family</vt:lpstr>
      <vt:lpstr>Benefits for Society </vt:lpstr>
      <vt:lpstr>Ultimate Goal of Inclusion</vt:lpstr>
      <vt:lpstr>Inclusive Environments</vt:lpstr>
      <vt:lpstr> Features of Inclusive Environment</vt:lpstr>
      <vt:lpstr> Barriers to Inclusion-Shortcomings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Two: Concept of Inclusion            2. 1. Definition of Inclusion</dc:title>
  <dc:creator>user</dc:creator>
  <cp:lastModifiedBy>user</cp:lastModifiedBy>
  <cp:revision>107</cp:revision>
  <dcterms:created xsi:type="dcterms:W3CDTF">2021-04-13T17:31:58Z</dcterms:created>
  <dcterms:modified xsi:type="dcterms:W3CDTF">2024-12-09T12:22:20Z</dcterms:modified>
</cp:coreProperties>
</file>